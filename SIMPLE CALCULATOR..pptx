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142" r:id="rId1"/>
  </p:sldMasterIdLst>
  <p:notesMasterIdLst>
    <p:notesMasterId r:id="rId18"/>
  </p:notesMasterIdLst>
  <p:handoutMasterIdLst>
    <p:handoutMasterId r:id="rId19"/>
  </p:handoutMasterIdLst>
  <p:sldIdLst>
    <p:sldId id="529" r:id="rId2"/>
    <p:sldId id="495" r:id="rId3"/>
    <p:sldId id="514" r:id="rId4"/>
    <p:sldId id="497" r:id="rId5"/>
    <p:sldId id="515" r:id="rId6"/>
    <p:sldId id="516" r:id="rId7"/>
    <p:sldId id="517" r:id="rId8"/>
    <p:sldId id="518" r:id="rId9"/>
    <p:sldId id="520" r:id="rId10"/>
    <p:sldId id="530" r:id="rId11"/>
    <p:sldId id="531" r:id="rId12"/>
    <p:sldId id="534" r:id="rId13"/>
    <p:sldId id="537" r:id="rId14"/>
    <p:sldId id="538" r:id="rId15"/>
    <p:sldId id="533" r:id="rId16"/>
    <p:sldId id="528" r:id="rId17"/>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A9ACEF"/>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7621" autoAdjust="0"/>
  </p:normalViewPr>
  <p:slideViewPr>
    <p:cSldViewPr>
      <p:cViewPr varScale="1">
        <p:scale>
          <a:sx n="91" d="100"/>
          <a:sy n="91" d="100"/>
        </p:scale>
        <p:origin x="1234" y="5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6/3/2026</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6/3/2026</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2</a:t>
            </a:fld>
            <a:endParaRPr lang="en-US" altLang="en-US"/>
          </a:p>
        </p:txBody>
      </p:sp>
    </p:spTree>
    <p:extLst>
      <p:ext uri="{BB962C8B-B14F-4D97-AF65-F5344CB8AC3E}">
        <p14:creationId xmlns:p14="http://schemas.microsoft.com/office/powerpoint/2010/main" val="3663378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3</a:t>
            </a:fld>
            <a:endParaRPr lang="en-US" altLang="en-US"/>
          </a:p>
        </p:txBody>
      </p:sp>
    </p:spTree>
    <p:extLst>
      <p:ext uri="{BB962C8B-B14F-4D97-AF65-F5344CB8AC3E}">
        <p14:creationId xmlns:p14="http://schemas.microsoft.com/office/powerpoint/2010/main" val="968573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5</a:t>
            </a:fld>
            <a:endParaRPr lang="en-US" altLang="en-US"/>
          </a:p>
        </p:txBody>
      </p:sp>
    </p:spTree>
    <p:extLst>
      <p:ext uri="{BB962C8B-B14F-4D97-AF65-F5344CB8AC3E}">
        <p14:creationId xmlns:p14="http://schemas.microsoft.com/office/powerpoint/2010/main" val="3199302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10</a:t>
            </a:fld>
            <a:endParaRPr lang="en-US" altLang="en-US"/>
          </a:p>
        </p:txBody>
      </p:sp>
    </p:spTree>
    <p:extLst>
      <p:ext uri="{BB962C8B-B14F-4D97-AF65-F5344CB8AC3E}">
        <p14:creationId xmlns:p14="http://schemas.microsoft.com/office/powerpoint/2010/main" val="1137858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5DB7D52D-565F-41B8-8A38-351E75B6160A}" type="datetime3">
              <a:rPr lang="en-US" smtClean="0"/>
              <a:t>3 June 2026</a:t>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a:t>CGB1121 – PYTHON PROGRAMMING –PROJECT REVIEW 1</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pPr>
                <a:defRPr/>
              </a:pPr>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10D64E2F-69CC-44E6-A292-0ACA122D21DC}" type="datetime3">
              <a:rPr lang="en-US" smtClean="0"/>
              <a:t>3 June 2026</a:t>
            </a:fld>
            <a:endParaRPr lang="en-US" dirty="0"/>
          </a:p>
        </p:txBody>
      </p:sp>
      <p:sp>
        <p:nvSpPr>
          <p:cNvPr id="5" name="Footer Placeholder 4"/>
          <p:cNvSpPr>
            <a:spLocks noGrp="1"/>
          </p:cNvSpPr>
          <p:nvPr>
            <p:ph type="ftr" sz="quarter" idx="11"/>
          </p:nvPr>
        </p:nvSpPr>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fld id="{66706815-C846-4605-9618-3F6E6CA90352}" type="datetime3">
              <a:rPr lang="en-US" smtClean="0"/>
              <a:t>3 June 2026</a:t>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pPr>
                <a:defRPr/>
              </a:pPr>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21AAA5BA-07A5-4870-B550-A63AA413A813}" type="datetime3">
              <a:rPr lang="en-US" smtClean="0"/>
              <a:t>3 June 2026</a:t>
            </a:fld>
            <a:endParaRPr lang="en-US" dirty="0"/>
          </a:p>
        </p:txBody>
      </p:sp>
      <p:sp>
        <p:nvSpPr>
          <p:cNvPr id="6" name="Footer Placeholder 5"/>
          <p:cNvSpPr>
            <a:spLocks noGrp="1"/>
          </p:cNvSpPr>
          <p:nvPr>
            <p:ph type="ftr" sz="quarter" idx="11"/>
          </p:nvPr>
        </p:nvSpPr>
        <p:spPr/>
        <p:txBody>
          <a:bodyPr/>
          <a:lstStyle/>
          <a:p>
            <a:pPr>
              <a:defRPr/>
            </a:pPr>
            <a:r>
              <a:rPr lang="en-US"/>
              <a:t>CGB1121 – PYTHON PROGRAMMING –PROJECT REVIEW 1</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C56CBCAE-4922-43E5-A623-0BF880173A60}" type="datetime3">
              <a:rPr lang="en-US" smtClean="0"/>
              <a:t>3 June 2026</a:t>
            </a:fld>
            <a:endParaRPr lang="en-US" dirty="0"/>
          </a:p>
        </p:txBody>
      </p:sp>
      <p:sp>
        <p:nvSpPr>
          <p:cNvPr id="8" name="Footer Placeholder 7"/>
          <p:cNvSpPr>
            <a:spLocks noGrp="1"/>
          </p:cNvSpPr>
          <p:nvPr>
            <p:ph type="ftr" sz="quarter" idx="11"/>
          </p:nvPr>
        </p:nvSpPr>
        <p:spPr/>
        <p:txBody>
          <a:bodyPr/>
          <a:lstStyle/>
          <a:p>
            <a:pPr>
              <a:defRPr/>
            </a:pPr>
            <a:r>
              <a:rPr lang="en-US"/>
              <a:t>CGB1121 – PYTHON PROGRAMMING –PROJECT REVIEW 1</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04A49A9B-770B-4D1D-BEA9-C1C4C9A5A662}" type="datetime3">
              <a:rPr lang="en-US" smtClean="0"/>
              <a:t>3 June 2026</a:t>
            </a:fld>
            <a:endParaRPr lang="en-US" dirty="0"/>
          </a:p>
        </p:txBody>
      </p:sp>
      <p:sp>
        <p:nvSpPr>
          <p:cNvPr id="4" name="Footer Placeholder 3"/>
          <p:cNvSpPr>
            <a:spLocks noGrp="1"/>
          </p:cNvSpPr>
          <p:nvPr>
            <p:ph type="ftr" sz="quarter" idx="11"/>
          </p:nvPr>
        </p:nvSpPr>
        <p:spPr/>
        <p:txBody>
          <a:bodyPr/>
          <a:lstStyle/>
          <a:p>
            <a:pPr>
              <a:defRPr/>
            </a:pPr>
            <a:r>
              <a:rPr lang="en-US"/>
              <a:t>CGB1121 – PYTHON PROGRAMMING –PROJECT REVIEW 1</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B70C381-8234-4493-A0B4-F2FD96F1DB14}" type="datetime3">
              <a:rPr lang="en-US" smtClean="0"/>
              <a:t>3 June 2026</a:t>
            </a:fld>
            <a:endParaRPr lang="en-US" dirty="0"/>
          </a:p>
        </p:txBody>
      </p:sp>
      <p:sp>
        <p:nvSpPr>
          <p:cNvPr id="3" name="Footer Placeholder 2"/>
          <p:cNvSpPr>
            <a:spLocks noGrp="1"/>
          </p:cNvSpPr>
          <p:nvPr>
            <p:ph type="ftr" sz="quarter" idx="11"/>
          </p:nvPr>
        </p:nvSpPr>
        <p:spPr/>
        <p:txBody>
          <a:bodyPr/>
          <a:lstStyle/>
          <a:p>
            <a:pPr>
              <a:defRPr/>
            </a:pPr>
            <a:r>
              <a:rPr lang="en-US"/>
              <a:t>CGB1121 – PYTHON PROGRAMMING –PROJECT REVIEW 1</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EC218892-8D6F-4935-9522-D7F3839DE182}" type="datetime3">
              <a:rPr lang="en-US" smtClean="0"/>
              <a:t>3 June 2026</a:t>
            </a:fld>
            <a:endParaRPr lang="en-US" dirty="0"/>
          </a:p>
        </p:txBody>
      </p:sp>
      <p:sp>
        <p:nvSpPr>
          <p:cNvPr id="6" name="Footer Placeholder 5"/>
          <p:cNvSpPr>
            <a:spLocks noGrp="1"/>
          </p:cNvSpPr>
          <p:nvPr>
            <p:ph type="ftr" sz="quarter" idx="11"/>
          </p:nvPr>
        </p:nvSpPr>
        <p:spPr/>
        <p:txBody>
          <a:bodyPr/>
          <a:lstStyle/>
          <a:p>
            <a:pPr>
              <a:defRPr/>
            </a:pPr>
            <a:r>
              <a:rPr lang="en-US"/>
              <a:t>CGB1121 – PYTHON PROGRAMMING –PROJECT REVIEW 1</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5246F511-33B4-4684-9F91-8CFDFBA51AAB}" type="datetime3">
              <a:rPr lang="en-US" smtClean="0"/>
              <a:t>3 June 2026</a:t>
            </a:fld>
            <a:endParaRPr lang="en-US" dirty="0"/>
          </a:p>
        </p:txBody>
      </p:sp>
      <p:sp>
        <p:nvSpPr>
          <p:cNvPr id="6" name="Footer Placeholder 5"/>
          <p:cNvSpPr>
            <a:spLocks noGrp="1"/>
          </p:cNvSpPr>
          <p:nvPr>
            <p:ph type="ftr" sz="quarter" idx="11"/>
          </p:nvPr>
        </p:nvSpPr>
        <p:spPr/>
        <p:txBody>
          <a:bodyPr/>
          <a:lstStyle/>
          <a:p>
            <a:pPr>
              <a:defRPr/>
            </a:pPr>
            <a:r>
              <a:rPr lang="en-US"/>
              <a:t>CGB1121 – PYTHON PROGRAMMING –PROJECT REVIEW 1</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BCD6E9A3-7C5D-44BD-B91B-2254645B0D35}" type="datetime3">
              <a:rPr lang="en-US" smtClean="0"/>
              <a:t>3 June 2026</a:t>
            </a:fld>
            <a:endParaRPr lang="en-US" dirty="0"/>
          </a:p>
        </p:txBody>
      </p:sp>
      <p:sp>
        <p:nvSpPr>
          <p:cNvPr id="5" name="Footer Placeholder 4"/>
          <p:cNvSpPr>
            <a:spLocks noGrp="1"/>
          </p:cNvSpPr>
          <p:nvPr>
            <p:ph type="ftr" sz="quarter" idx="11"/>
          </p:nvPr>
        </p:nvSpPr>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A9A020FA-B49B-4391-A45E-A9A582874558}" type="datetime3">
              <a:rPr lang="en-US" smtClean="0"/>
              <a:t>3 June 2026</a:t>
            </a:fld>
            <a:endParaRPr lang="en-US" dirty="0"/>
          </a:p>
        </p:txBody>
      </p:sp>
      <p:sp>
        <p:nvSpPr>
          <p:cNvPr id="5" name="Footer Placeholder 4"/>
          <p:cNvSpPr>
            <a:spLocks noGrp="1"/>
          </p:cNvSpPr>
          <p:nvPr>
            <p:ph type="ftr" sz="quarter" idx="11"/>
          </p:nvPr>
        </p:nvSpPr>
        <p:spPr/>
        <p:txBody>
          <a:bodyPr/>
          <a:lstStyle/>
          <a:p>
            <a:pPr>
              <a:defRPr/>
            </a:pPr>
            <a:r>
              <a:rPr lang="en-US"/>
              <a:t>CGB1121 – PYTHON PROGRAMMING –PROJECT REVIEW 1</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03F0DBEF-CC95-4709-B5D7-B1ACCC3FD3B5}" type="datetime3">
              <a:rPr lang="en-US" smtClean="0"/>
              <a:t>3 June 2026</a:t>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a:t>CGB1121 – PYTHON PROGRAMMING –PROJECT REVIEW 1</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pPr>
                <a:defRPr/>
              </a:pPr>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lstStyle/>
          <a:p>
            <a:pPr algn="ctr">
              <a:defRPr/>
            </a:pPr>
            <a:r>
              <a:rPr lang="en-IN" sz="2800" b="1" dirty="0">
                <a:solidFill>
                  <a:schemeClr val="tx1"/>
                </a:solidFill>
                <a:latin typeface="Times New Roman" pitchFamily="18" charset="0"/>
                <a:cs typeface="Times New Roman" pitchFamily="18" charset="0"/>
              </a:rPr>
              <a:t>CGB1121 – PYTHON PROGRAMMING</a:t>
            </a:r>
            <a:br>
              <a:rPr lang="en-IN" sz="2800" b="1" dirty="0">
                <a:solidFill>
                  <a:schemeClr val="tx1"/>
                </a:solidFill>
                <a:latin typeface="Times New Roman" pitchFamily="18" charset="0"/>
                <a:cs typeface="Times New Roman" pitchFamily="18" charset="0"/>
              </a:rPr>
            </a:br>
            <a:r>
              <a:rPr lang="en-IN" sz="2800" b="1" dirty="0">
                <a:solidFill>
                  <a:schemeClr val="tx1"/>
                </a:solidFill>
                <a:latin typeface="Times New Roman" pitchFamily="18" charset="0"/>
                <a:cs typeface="Times New Roman" pitchFamily="18" charset="0"/>
              </a:rPr>
              <a:t>END SEMESTER REVIEW - APRIL/MAY 2026</a:t>
            </a:r>
          </a:p>
        </p:txBody>
      </p:sp>
      <p:sp>
        <p:nvSpPr>
          <p:cNvPr id="7" name="Footer Placeholder 4"/>
          <p:cNvSpPr txBox="1">
            <a:spLocks/>
          </p:cNvSpPr>
          <p:nvPr/>
        </p:nvSpPr>
        <p:spPr>
          <a:xfrm>
            <a:off x="755725" y="1200150"/>
            <a:ext cx="7772400" cy="3505200"/>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2500" b="1" dirty="0">
                <a:solidFill>
                  <a:schemeClr val="tx1"/>
                </a:solidFill>
                <a:latin typeface="Times New Roman" pitchFamily="18" charset="0"/>
                <a:cs typeface="Times New Roman" pitchFamily="18" charset="0"/>
              </a:rPr>
              <a:t>Department of Computer Science and Engineering</a:t>
            </a:r>
          </a:p>
          <a:p>
            <a:pPr algn="ctr">
              <a:defRPr/>
            </a:pPr>
            <a:r>
              <a:rPr lang="en-US" sz="2500" b="1" dirty="0">
                <a:solidFill>
                  <a:schemeClr val="tx1"/>
                </a:solidFill>
                <a:latin typeface="Times New Roman" pitchFamily="18" charset="0"/>
                <a:cs typeface="Times New Roman" pitchFamily="18" charset="0"/>
              </a:rPr>
              <a:t>Academic Year: 2025 – 2026 (Even Semester)</a:t>
            </a:r>
          </a:p>
          <a:p>
            <a:pPr>
              <a:defRPr/>
            </a:pPr>
            <a:r>
              <a:rPr lang="en-US" sz="2500" b="1" dirty="0">
                <a:solidFill>
                  <a:schemeClr val="tx1"/>
                </a:solidFill>
                <a:latin typeface="Times New Roman" pitchFamily="18" charset="0"/>
                <a:cs typeface="Times New Roman" pitchFamily="18" charset="0"/>
              </a:rPr>
              <a:t>Batch No.				:07</a:t>
            </a:r>
          </a:p>
          <a:p>
            <a:pPr>
              <a:defRPr/>
            </a:pPr>
            <a:r>
              <a:rPr lang="en-US" sz="2500" b="1" dirty="0">
                <a:solidFill>
                  <a:schemeClr val="tx1"/>
                </a:solidFill>
                <a:latin typeface="Times New Roman" pitchFamily="18" charset="0"/>
                <a:cs typeface="Times New Roman" pitchFamily="18" charset="0"/>
              </a:rPr>
              <a:t>Register Number	:927625BCS064 , 927625BCS116</a:t>
            </a:r>
          </a:p>
          <a:p>
            <a:pPr>
              <a:defRPr/>
            </a:pPr>
            <a:r>
              <a:rPr lang="en-US" sz="2500" b="1" dirty="0">
                <a:solidFill>
                  <a:schemeClr val="tx1"/>
                </a:solidFill>
                <a:latin typeface="Times New Roman" pitchFamily="18" charset="0"/>
                <a:cs typeface="Times New Roman" pitchFamily="18" charset="0"/>
              </a:rPr>
              <a:t>Name					:</a:t>
            </a:r>
            <a:r>
              <a:rPr lang="en-US" sz="2400" b="1" dirty="0">
                <a:solidFill>
                  <a:schemeClr val="tx1"/>
                </a:solidFill>
                <a:latin typeface="Times New Roman" pitchFamily="18" charset="0"/>
                <a:cs typeface="Times New Roman" pitchFamily="18" charset="0"/>
              </a:rPr>
              <a:t>KANISHKA.A.K,PATHMASRI.V.M</a:t>
            </a:r>
          </a:p>
          <a:p>
            <a:pPr>
              <a:defRPr/>
            </a:pPr>
            <a:r>
              <a:rPr lang="en-US" sz="2500" b="1" dirty="0">
                <a:solidFill>
                  <a:schemeClr val="tx1"/>
                </a:solidFill>
                <a:latin typeface="Times New Roman" pitchFamily="18" charset="0"/>
                <a:cs typeface="Times New Roman" pitchFamily="18" charset="0"/>
              </a:rPr>
              <a:t>Year					: I</a:t>
            </a:r>
          </a:p>
          <a:p>
            <a:pPr>
              <a:defRPr/>
            </a:pPr>
            <a:r>
              <a:rPr lang="en-US" sz="2500" b="1" dirty="0">
                <a:solidFill>
                  <a:schemeClr val="tx1"/>
                </a:solidFill>
                <a:latin typeface="Times New Roman" pitchFamily="18" charset="0"/>
                <a:cs typeface="Times New Roman" pitchFamily="18" charset="0"/>
              </a:rPr>
              <a:t>Semester				: II</a:t>
            </a:r>
          </a:p>
          <a:p>
            <a:pPr>
              <a:defRPr/>
            </a:pPr>
            <a:r>
              <a:rPr lang="en-US" sz="2500" b="1" dirty="0">
                <a:solidFill>
                  <a:schemeClr val="tx1"/>
                </a:solidFill>
                <a:latin typeface="Times New Roman" pitchFamily="18" charset="0"/>
                <a:cs typeface="Times New Roman" pitchFamily="18" charset="0"/>
              </a:rPr>
              <a:t>Section				: CSE-B</a:t>
            </a:r>
          </a:p>
          <a:p>
            <a:pPr>
              <a:defRPr/>
            </a:pPr>
            <a:r>
              <a:rPr lang="en-US" sz="2500" b="1" dirty="0">
                <a:solidFill>
                  <a:schemeClr val="tx1"/>
                </a:solidFill>
                <a:latin typeface="Times New Roman" pitchFamily="18" charset="0"/>
                <a:cs typeface="Times New Roman" pitchFamily="18" charset="0"/>
              </a:rPr>
              <a:t>Date					:04.06.2026</a:t>
            </a:r>
          </a:p>
        </p:txBody>
      </p:sp>
      <p:sp>
        <p:nvSpPr>
          <p:cNvPr id="4" name="Slide Number Placeholder 3"/>
          <p:cNvSpPr>
            <a:spLocks noGrp="1"/>
          </p:cNvSpPr>
          <p:nvPr>
            <p:ph type="sldNum" sz="quarter" idx="12"/>
          </p:nvPr>
        </p:nvSpPr>
        <p:spPr/>
        <p:txBody>
          <a:bodyPr/>
          <a:lstStyle/>
          <a:p>
            <a:pPr>
              <a:defRPr/>
            </a:pPr>
            <a:fld id="{DB554FDC-F986-4516-81A3-5CBC9634E9C1}" type="slidenum">
              <a:rPr lang="en-US" altLang="en-US" smtClean="0"/>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05917E-1459-9543-BDC1-EB6757DCCC2B}"/>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Title of the Project</a:t>
            </a:r>
            <a:endParaRPr lang="en-IN" sz="4000" b="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A59926A3-D6DE-BF77-88C6-09EA205A58DB}"/>
              </a:ext>
            </a:extLst>
          </p:cNvPr>
          <p:cNvSpPr>
            <a:spLocks noGrp="1"/>
          </p:cNvSpPr>
          <p:nvPr>
            <p:ph type="ftr" sz="quarter" idx="11"/>
          </p:nvPr>
        </p:nvSpPr>
        <p:spPr>
          <a:xfrm>
            <a:off x="2247441" y="4767263"/>
            <a:ext cx="4876800" cy="376237"/>
          </a:xfrm>
        </p:spPr>
        <p:txBody>
          <a:bodyPr/>
          <a:lstStyle/>
          <a:p>
            <a:pPr>
              <a:defRPr/>
            </a:pPr>
            <a:r>
              <a:rPr lang="en-US" sz="1200" dirty="0">
                <a:latin typeface="Times New Roman" pitchFamily="18" charset="0"/>
                <a:cs typeface="Times New Roman" pitchFamily="18" charset="0"/>
              </a:rPr>
              <a:t>CGB1121 – PYTHON PROGRAMMING –END SEMESTER REVIEW</a:t>
            </a: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2</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sp>
        <p:nvSpPr>
          <p:cNvPr id="6"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457200" y="914400"/>
            <a:ext cx="8229600" cy="3703320"/>
          </a:xfrm>
        </p:spPr>
        <p:txBody>
          <a:bodyPr/>
          <a:lstStyle/>
          <a:p>
            <a:pPr marL="0" indent="0">
              <a:buNone/>
            </a:pPr>
            <a:r>
              <a:rPr lang="en-IN" sz="2400" b="1" dirty="0">
                <a:latin typeface="Times New Roman" pitchFamily="18" charset="0"/>
                <a:cs typeface="Times New Roman" pitchFamily="18" charset="0"/>
              </a:rPr>
              <a:t>                   </a:t>
            </a:r>
          </a:p>
          <a:p>
            <a:pPr marL="0" indent="0">
              <a:buNone/>
            </a:pPr>
            <a:endParaRPr lang="en-IN" sz="2400" b="1" dirty="0">
              <a:latin typeface="Times New Roman" pitchFamily="18" charset="0"/>
              <a:cs typeface="Times New Roman" pitchFamily="18" charset="0"/>
            </a:endParaRPr>
          </a:p>
          <a:p>
            <a:pPr marL="0" indent="0">
              <a:buNone/>
            </a:pPr>
            <a:endParaRPr lang="en-IN" sz="2400" b="1" dirty="0">
              <a:latin typeface="Times New Roman" pitchFamily="18" charset="0"/>
              <a:cs typeface="Times New Roman" pitchFamily="18" charset="0"/>
            </a:endParaRPr>
          </a:p>
          <a:p>
            <a:pPr marL="0" indent="0">
              <a:buNone/>
            </a:pPr>
            <a:r>
              <a:rPr lang="en-IN" sz="2400" b="1" dirty="0">
                <a:latin typeface="Times New Roman" pitchFamily="18" charset="0"/>
                <a:cs typeface="Times New Roman" pitchFamily="18" charset="0"/>
              </a:rPr>
              <a:t>                      PAYROLL PROCESSING SYSTEM</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551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552-9064-2022-2FE6-8CF056A213C6}"/>
              </a:ext>
            </a:extLst>
          </p:cNvPr>
          <p:cNvSpPr>
            <a:spLocks noGrp="1"/>
          </p:cNvSpPr>
          <p:nvPr>
            <p:ph type="title"/>
          </p:nvPr>
        </p:nvSpPr>
        <p:spPr>
          <a:xfrm>
            <a:off x="457200" y="209550"/>
            <a:ext cx="8229600" cy="60960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Abstract</a:t>
            </a:r>
            <a:r>
              <a:rPr lang="en-IN" dirty="0">
                <a:solidFill>
                  <a:schemeClr val="tx1"/>
                </a:solidFill>
                <a:latin typeface="Times New Roman" pitchFamily="18" charset="0"/>
                <a:cs typeface="Times New Roman" pitchFamily="18" charset="0"/>
              </a:rPr>
              <a:t> </a:t>
            </a:r>
            <a:endParaRPr lang="en-IN" sz="4000"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9F403579-F0D1-E1A9-9626-90D255E99861}"/>
              </a:ext>
            </a:extLst>
          </p:cNvPr>
          <p:cNvSpPr>
            <a:spLocks noGrp="1"/>
          </p:cNvSpPr>
          <p:nvPr>
            <p:ph type="ftr" sz="quarter" idx="11"/>
          </p:nvPr>
        </p:nvSpPr>
        <p:spPr>
          <a:xfrm>
            <a:off x="2286000" y="4767263"/>
            <a:ext cx="48006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03F0F658-36A0-130D-3974-0382D1967D80}"/>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dirty="0"/>
          </a:p>
        </p:txBody>
      </p:sp>
      <p:sp>
        <p:nvSpPr>
          <p:cNvPr id="3" name="Content Placeholder 2">
            <a:extLst>
              <a:ext uri="{FF2B5EF4-FFF2-40B4-BE49-F238E27FC236}">
                <a16:creationId xmlns:a16="http://schemas.microsoft.com/office/drawing/2014/main" id="{65894BDA-3057-096C-18BB-A0D0D182A5A7}"/>
              </a:ext>
            </a:extLst>
          </p:cNvPr>
          <p:cNvSpPr>
            <a:spLocks noGrp="1"/>
          </p:cNvSpPr>
          <p:nvPr>
            <p:ph sz="quarter" idx="1"/>
          </p:nvPr>
        </p:nvSpPr>
        <p:spPr/>
        <p:txBody>
          <a:bodyPr>
            <a:normAutofit/>
          </a:bodyPr>
          <a:lstStyle/>
          <a:p>
            <a:pPr marL="0" indent="0" algn="just">
              <a:buNone/>
            </a:pPr>
            <a:endParaRPr lang="en-US" sz="1400" dirty="0">
              <a:latin typeface="Times New Roman" pitchFamily="18" charset="0"/>
              <a:cs typeface="Times New Roman" pitchFamily="18" charset="0"/>
            </a:endParaRPr>
          </a:p>
          <a:p>
            <a:pPr marL="0" indent="0" algn="just">
              <a:buNone/>
            </a:pPr>
            <a:r>
              <a:rPr lang="en-US" sz="1400" dirty="0">
                <a:latin typeface="Times New Roman" pitchFamily="18" charset="0"/>
                <a:cs typeface="Times New Roman" pitchFamily="18" charset="0"/>
              </a:rPr>
              <a:t>The Payroll Processing System is a Python-based application developed to automate the calculation of employee salaries in an accurate and efficient manner. Manual salary computation can lead to errors and consume significant time, so this system provides a structured and reliable solution using Python programming concepts. The application uses separate functions to calculate basic pay, allowances, deductions, and net salary. By dividing the program into modular components, the system ensures better organization, easy maintenance, and improved accuracy. Allowances and deductions are calculated independently before determining the final net pay. The system takes employee details as input, processes all salary components step by step, and generates the final salary output. This project demonstrates the practical use of functions, arithmetic operations, and logical structures in Python to build a simple and effective payroll management system.</a:t>
            </a:r>
            <a:endParaRPr lang="en-IN" sz="1400"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87543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41D2982-5921-8820-6121-B327A76C2313}"/>
              </a:ext>
            </a:extLst>
          </p:cNvPr>
          <p:cNvSpPr>
            <a:spLocks noGrp="1"/>
          </p:cNvSpPr>
          <p:nvPr>
            <p:ph type="title"/>
          </p:nvPr>
        </p:nvSpPr>
        <p:spPr>
          <a:xfrm>
            <a:off x="685800" y="171450"/>
            <a:ext cx="8001000" cy="4953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Abstract with CO/PO Mapping</a:t>
            </a:r>
            <a:endParaRPr lang="en-IN" sz="4000" b="1" dirty="0">
              <a:solidFill>
                <a:schemeClr val="tx1"/>
              </a:solidFill>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0DFA7D47-ED00-F80D-DBCB-FE3C2E8CD979}"/>
              </a:ext>
            </a:extLst>
          </p:cNvPr>
          <p:cNvSpPr>
            <a:spLocks noGrp="1"/>
          </p:cNvSpPr>
          <p:nvPr>
            <p:ph type="ftr" sz="quarter" idx="11"/>
          </p:nvPr>
        </p:nvSpPr>
        <p:spPr>
          <a:xfrm>
            <a:off x="2209341" y="4781550"/>
            <a:ext cx="49530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4</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graphicFrame>
        <p:nvGraphicFramePr>
          <p:cNvPr id="3" name="Table 2"/>
          <p:cNvGraphicFramePr>
            <a:graphicFrameLocks noGrp="1"/>
          </p:cNvGraphicFramePr>
          <p:nvPr>
            <p:extLst>
              <p:ext uri="{D42A27DB-BD31-4B8C-83A1-F6EECF244321}">
                <p14:modId xmlns:p14="http://schemas.microsoft.com/office/powerpoint/2010/main" val="1797180855"/>
              </p:ext>
            </p:extLst>
          </p:nvPr>
        </p:nvGraphicFramePr>
        <p:xfrm>
          <a:off x="533400" y="1123950"/>
          <a:ext cx="8153400" cy="3238502"/>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438734">
                <a:tc>
                  <a:txBody>
                    <a:bodyPr/>
                    <a:lstStyle/>
                    <a:p>
                      <a:pPr algn="just"/>
                      <a:r>
                        <a:rPr lang="en-US" sz="1800" dirty="0">
                          <a:solidFill>
                            <a:schemeClr val="tx1"/>
                          </a:solidFill>
                          <a:latin typeface="Times New Roman" pitchFamily="18" charset="0"/>
                          <a:cs typeface="Times New Roman" pitchFamily="18" charset="0"/>
                        </a:rPr>
                        <a:t>Abstract</a:t>
                      </a:r>
                    </a:p>
                  </a:txBody>
                  <a:tcPr>
                    <a:solidFill>
                      <a:schemeClr val="bg2"/>
                    </a:solidFill>
                  </a:tcPr>
                </a:tc>
                <a:tc>
                  <a:txBody>
                    <a:bodyPr/>
                    <a:lstStyle/>
                    <a:p>
                      <a:pPr algn="just"/>
                      <a:r>
                        <a:rPr lang="en-US" sz="1800" dirty="0">
                          <a:solidFill>
                            <a:schemeClr val="tx1"/>
                          </a:solidFill>
                          <a:latin typeface="Times New Roman" pitchFamily="18" charset="0"/>
                          <a:cs typeface="Times New Roman" pitchFamily="18" charset="0"/>
                        </a:rPr>
                        <a:t>CO</a:t>
                      </a:r>
                    </a:p>
                  </a:txBody>
                  <a:tcPr>
                    <a:solidFill>
                      <a:schemeClr val="bg2"/>
                    </a:solidFill>
                  </a:tcPr>
                </a:tc>
                <a:tc>
                  <a:txBody>
                    <a:bodyPr/>
                    <a:lstStyle/>
                    <a:p>
                      <a:pPr algn="just"/>
                      <a:r>
                        <a:rPr lang="en-US" sz="1800" dirty="0">
                          <a:solidFill>
                            <a:schemeClr val="tx1"/>
                          </a:solidFill>
                          <a:latin typeface="Times New Roman" pitchFamily="18" charset="0"/>
                          <a:cs typeface="Times New Roman" pitchFamily="18" charset="0"/>
                        </a:rPr>
                        <a:t>POs</a:t>
                      </a:r>
                    </a:p>
                  </a:txBody>
                  <a:tcPr>
                    <a:solidFill>
                      <a:schemeClr val="bg2"/>
                    </a:solidFill>
                  </a:tcPr>
                </a:tc>
                <a:tc>
                  <a:txBody>
                    <a:bodyPr/>
                    <a:lstStyle/>
                    <a:p>
                      <a:pPr algn="just"/>
                      <a:r>
                        <a:rPr lang="en-US" sz="1800" dirty="0">
                          <a:solidFill>
                            <a:schemeClr val="tx1"/>
                          </a:solidFill>
                          <a:latin typeface="Times New Roman" pitchFamily="18" charset="0"/>
                          <a:cs typeface="Times New Roman" pitchFamily="18" charset="0"/>
                        </a:rPr>
                        <a:t>PSO</a:t>
                      </a:r>
                    </a:p>
                  </a:txBody>
                  <a:tcPr>
                    <a:solidFill>
                      <a:schemeClr val="bg2"/>
                    </a:solidFill>
                  </a:tcPr>
                </a:tc>
                <a:extLst>
                  <a:ext uri="{0D108BD9-81ED-4DB2-BD59-A6C34878D82A}">
                    <a16:rowId xmlns:a16="http://schemas.microsoft.com/office/drawing/2014/main" val="10000"/>
                  </a:ext>
                </a:extLst>
              </a:tr>
              <a:tr h="2799768">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Times New Roman" pitchFamily="18" charset="0"/>
                          <a:cs typeface="Times New Roman" pitchFamily="18" charset="0"/>
                        </a:rPr>
                        <a:t>The Payroll Processing System is a Python-based program designed to automate employee salary calculation. It uses separate functions to compute basic pay, allowances, deductions, and net salary, ensuring accuracy and clarity. The system takes employee details as input and generates the final salary after processing all components. This project demonstrates the use of modular programming in Python to create a simple, reliable, and maintainable payroll management solution.</a:t>
                      </a:r>
                    </a:p>
                    <a:p>
                      <a:pPr algn="just"/>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pPr algn="just"/>
                      <a:r>
                        <a:rPr lang="en-US" sz="1400" dirty="0">
                          <a:solidFill>
                            <a:schemeClr val="tx1"/>
                          </a:solidFill>
                          <a:latin typeface="Times New Roman" pitchFamily="18" charset="0"/>
                          <a:cs typeface="Times New Roman" pitchFamily="18" charset="0"/>
                        </a:rPr>
                        <a:t>CO1</a:t>
                      </a:r>
                    </a:p>
                    <a:p>
                      <a:pPr algn="just"/>
                      <a:r>
                        <a:rPr lang="en-US" sz="1400" dirty="0">
                          <a:solidFill>
                            <a:schemeClr val="tx1"/>
                          </a:solidFill>
                          <a:latin typeface="Times New Roman" pitchFamily="18" charset="0"/>
                          <a:cs typeface="Times New Roman" pitchFamily="18" charset="0"/>
                        </a:rPr>
                        <a:t>CO2</a:t>
                      </a:r>
                    </a:p>
                    <a:p>
                      <a:pPr algn="just"/>
                      <a:r>
                        <a:rPr lang="en-US" sz="1400" dirty="0">
                          <a:solidFill>
                            <a:schemeClr val="tx1"/>
                          </a:solidFill>
                          <a:latin typeface="Times New Roman" pitchFamily="18" charset="0"/>
                          <a:cs typeface="Times New Roman" pitchFamily="18" charset="0"/>
                        </a:rPr>
                        <a:t>CO3</a:t>
                      </a:r>
                    </a:p>
                    <a:p>
                      <a:pPr algn="just"/>
                      <a:r>
                        <a:rPr lang="en-US" sz="1400" dirty="0">
                          <a:solidFill>
                            <a:schemeClr val="tx1"/>
                          </a:solidFill>
                          <a:latin typeface="Times New Roman" pitchFamily="18" charset="0"/>
                          <a:cs typeface="Times New Roman" pitchFamily="18" charset="0"/>
                        </a:rPr>
                        <a:t>CO4</a:t>
                      </a:r>
                    </a:p>
                  </a:txBody>
                  <a:tcPr>
                    <a:solidFill>
                      <a:schemeClr val="bg2"/>
                    </a:solidFill>
                  </a:tcPr>
                </a:tc>
                <a:tc>
                  <a:txBody>
                    <a:bodyPr/>
                    <a:lstStyle/>
                    <a:p>
                      <a:pPr algn="just"/>
                      <a:r>
                        <a:rPr lang="en-US" sz="1400" dirty="0">
                          <a:solidFill>
                            <a:schemeClr val="tx1"/>
                          </a:solidFill>
                          <a:latin typeface="Times New Roman" pitchFamily="18" charset="0"/>
                          <a:cs typeface="Times New Roman" pitchFamily="18" charset="0"/>
                        </a:rPr>
                        <a:t>PO1</a:t>
                      </a:r>
                    </a:p>
                    <a:p>
                      <a:pPr algn="just"/>
                      <a:r>
                        <a:rPr lang="en-US" sz="1400" dirty="0">
                          <a:solidFill>
                            <a:schemeClr val="tx1"/>
                          </a:solidFill>
                          <a:latin typeface="Times New Roman" pitchFamily="18" charset="0"/>
                          <a:cs typeface="Times New Roman" pitchFamily="18" charset="0"/>
                        </a:rPr>
                        <a:t>PO2</a:t>
                      </a:r>
                    </a:p>
                    <a:p>
                      <a:pPr algn="just"/>
                      <a:r>
                        <a:rPr lang="en-US" sz="1400" dirty="0">
                          <a:solidFill>
                            <a:schemeClr val="tx1"/>
                          </a:solidFill>
                          <a:latin typeface="Times New Roman" pitchFamily="18" charset="0"/>
                          <a:cs typeface="Times New Roman" pitchFamily="18" charset="0"/>
                        </a:rPr>
                        <a:t>PO3</a:t>
                      </a:r>
                    </a:p>
                    <a:p>
                      <a:pPr algn="just"/>
                      <a:r>
                        <a:rPr lang="en-US" sz="1400" dirty="0">
                          <a:solidFill>
                            <a:schemeClr val="tx1"/>
                          </a:solidFill>
                          <a:latin typeface="Times New Roman" pitchFamily="18" charset="0"/>
                          <a:cs typeface="Times New Roman" pitchFamily="18" charset="0"/>
                        </a:rPr>
                        <a:t>PO4</a:t>
                      </a:r>
                    </a:p>
                    <a:p>
                      <a:pPr algn="just"/>
                      <a:r>
                        <a:rPr lang="en-US" sz="1400" dirty="0">
                          <a:solidFill>
                            <a:schemeClr val="tx1"/>
                          </a:solidFill>
                          <a:latin typeface="Times New Roman" pitchFamily="18" charset="0"/>
                          <a:cs typeface="Times New Roman" pitchFamily="18" charset="0"/>
                        </a:rPr>
                        <a:t>PO5</a:t>
                      </a:r>
                    </a:p>
                    <a:p>
                      <a:pPr algn="just"/>
                      <a:r>
                        <a:rPr lang="en-US" sz="1400" dirty="0">
                          <a:solidFill>
                            <a:schemeClr val="tx1"/>
                          </a:solidFill>
                          <a:latin typeface="Times New Roman" pitchFamily="18" charset="0"/>
                          <a:cs typeface="Times New Roman" pitchFamily="18" charset="0"/>
                        </a:rPr>
                        <a:t>PO9</a:t>
                      </a:r>
                    </a:p>
                    <a:p>
                      <a:pPr algn="just"/>
                      <a:r>
                        <a:rPr lang="en-US" sz="1400" dirty="0">
                          <a:solidFill>
                            <a:schemeClr val="tx1"/>
                          </a:solidFill>
                          <a:latin typeface="Times New Roman" pitchFamily="18" charset="0"/>
                          <a:cs typeface="Times New Roman" pitchFamily="18" charset="0"/>
                        </a:rPr>
                        <a:t>PO10</a:t>
                      </a:r>
                    </a:p>
                    <a:p>
                      <a:pPr algn="just"/>
                      <a:r>
                        <a:rPr lang="en-US" sz="1400" dirty="0">
                          <a:solidFill>
                            <a:schemeClr val="tx1"/>
                          </a:solidFill>
                          <a:latin typeface="Times New Roman" pitchFamily="18" charset="0"/>
                          <a:cs typeface="Times New Roman" pitchFamily="18" charset="0"/>
                        </a:rPr>
                        <a:t>PO11</a:t>
                      </a:r>
                    </a:p>
                  </a:txBody>
                  <a:tcPr>
                    <a:solidFill>
                      <a:schemeClr val="bg2"/>
                    </a:solidFill>
                  </a:tcPr>
                </a:tc>
                <a:tc>
                  <a:txBody>
                    <a:bodyPr/>
                    <a:lstStyle/>
                    <a:p>
                      <a:pPr algn="just"/>
                      <a:r>
                        <a:rPr lang="en-US" sz="1400" dirty="0">
                          <a:solidFill>
                            <a:schemeClr val="tx1"/>
                          </a:solidFill>
                          <a:latin typeface="Times New Roman" pitchFamily="18" charset="0"/>
                          <a:cs typeface="Times New Roman" pitchFamily="18" charset="0"/>
                        </a:rPr>
                        <a:t>PSO1</a:t>
                      </a:r>
                    </a:p>
                    <a:p>
                      <a:pPr algn="just"/>
                      <a:r>
                        <a:rPr lang="en-US" sz="1400" dirty="0">
                          <a:solidFill>
                            <a:schemeClr val="tx1"/>
                          </a:solidFill>
                          <a:latin typeface="Times New Roman" pitchFamily="18" charset="0"/>
                          <a:cs typeface="Times New Roman" pitchFamily="18" charset="0"/>
                        </a:rPr>
                        <a:t>PSO2</a:t>
                      </a:r>
                    </a:p>
                    <a:p>
                      <a:pPr algn="just"/>
                      <a:endParaRPr lang="en-US" sz="1600" dirty="0">
                        <a:solidFill>
                          <a:schemeClr val="tx1"/>
                        </a:solidFill>
                        <a:latin typeface="Times New Roman" pitchFamily="18" charset="0"/>
                        <a:cs typeface="Times New Roman" pitchFamily="18" charset="0"/>
                      </a:endParaRPr>
                    </a:p>
                  </a:txBody>
                  <a:tcPr>
                    <a:solidFill>
                      <a:schemeClr val="bg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6214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4323-5210-80A9-6891-2FD74992CE91}"/>
              </a:ext>
            </a:extLst>
          </p:cNvPr>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Introduction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CC405221-347E-9CCD-BA88-4C53ECC3746E}"/>
              </a:ext>
            </a:extLst>
          </p:cNvPr>
          <p:cNvSpPr>
            <a:spLocks noGrp="1"/>
          </p:cNvSpPr>
          <p:nvPr>
            <p:ph type="ftr" sz="quarter" idx="11"/>
          </p:nvPr>
        </p:nvSpPr>
        <p:spPr>
          <a:xfrm>
            <a:off x="2209800" y="4767263"/>
            <a:ext cx="49530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921C23A5-3836-E986-E59E-625D0AB8CE91}"/>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sp>
        <p:nvSpPr>
          <p:cNvPr id="3" name="Content Placeholder 2">
            <a:extLst>
              <a:ext uri="{FF2B5EF4-FFF2-40B4-BE49-F238E27FC236}">
                <a16:creationId xmlns:a16="http://schemas.microsoft.com/office/drawing/2014/main" id="{5753BF69-1C78-F823-3EFC-69FA8564C97F}"/>
              </a:ext>
            </a:extLst>
          </p:cNvPr>
          <p:cNvSpPr>
            <a:spLocks noGrp="1"/>
          </p:cNvSpPr>
          <p:nvPr>
            <p:ph sz="quarter" idx="1"/>
          </p:nvPr>
        </p:nvSpPr>
        <p:spPr/>
        <p:txBody>
          <a:bodyPr>
            <a:normAutofit/>
          </a:bodyPr>
          <a:lstStyle/>
          <a:p>
            <a:pPr marL="0" indent="0" algn="just">
              <a:buNone/>
            </a:pP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The Payroll Processing System is a Python-based application developed to automate and manage employee salary operations efficiently. In many organizations, payroll calculation is a time-consuming and error-prone task when done manually. This system helps in calculating employee salaries by considering basic pay, allowances, bonuses, overtime, and deductions such as tax and provident fund. The project is developed using core Python concepts like functions, loops, conditional statements, and file handling to store and process employee records. It ensures accuracy, reduces paperwork, saves time, and improves overall payroll management. This system is especially useful for small and medium-sized organizations to maintain structured and reliable salary records.</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1469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B6BB-2415-497F-4C70-6A70B013581E}"/>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Python Programming  - Concepts Used</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F55EE2C0-12B3-E6E1-5A16-64A0C6634B04}"/>
              </a:ext>
            </a:extLst>
          </p:cNvPr>
          <p:cNvSpPr>
            <a:spLocks noGrp="1"/>
          </p:cNvSpPr>
          <p:nvPr>
            <p:ph type="ftr" sz="quarter" idx="11"/>
          </p:nvPr>
        </p:nvSpPr>
        <p:spPr>
          <a:xfrm>
            <a:off x="2209800" y="4767263"/>
            <a:ext cx="47244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05A628F9-F7CC-2DB8-AAC5-C0EF604976FD}"/>
              </a:ext>
            </a:extLst>
          </p:cNvPr>
          <p:cNvSpPr>
            <a:spLocks noGrp="1"/>
          </p:cNvSpPr>
          <p:nvPr>
            <p:ph type="sldNum" sz="quarter" idx="12"/>
          </p:nvPr>
        </p:nvSpPr>
        <p:spPr/>
        <p:txBody>
          <a:bodyPr/>
          <a:lstStyle/>
          <a:p>
            <a:pPr>
              <a:defRPr/>
            </a:pPr>
            <a:fld id="{0E14ABD8-B1EB-4C07-9937-C8C4E38BDF00}" type="slidenum">
              <a:rPr lang="en-US" altLang="en-US" smtClean="0"/>
              <a:pPr>
                <a:defRPr/>
              </a:pPr>
              <a:t>6</a:t>
            </a:fld>
            <a:endParaRPr lang="en-US" altLang="en-US"/>
          </a:p>
        </p:txBody>
      </p:sp>
      <p:sp>
        <p:nvSpPr>
          <p:cNvPr id="3" name="Content Placeholder 2">
            <a:extLst>
              <a:ext uri="{FF2B5EF4-FFF2-40B4-BE49-F238E27FC236}">
                <a16:creationId xmlns:a16="http://schemas.microsoft.com/office/drawing/2014/main" id="{2AC2A75F-B902-2E39-B132-184CA4C15438}"/>
              </a:ext>
            </a:extLst>
          </p:cNvPr>
          <p:cNvSpPr>
            <a:spLocks noGrp="1"/>
          </p:cNvSpPr>
          <p:nvPr>
            <p:ph sz="quarter" idx="1"/>
          </p:nvPr>
        </p:nvSpPr>
        <p:spPr/>
        <p:txBody>
          <a:bodyPr>
            <a:normAutofit fontScale="70000" lnSpcReduction="20000"/>
          </a:bodyPr>
          <a:lstStyle/>
          <a:p>
            <a:pPr marL="0" indent="0" algn="just">
              <a:buNone/>
            </a:pPr>
            <a:r>
              <a:rPr lang="en-US" sz="2000" b="1" dirty="0">
                <a:latin typeface="Times New Roman" panose="02020603050405020304" pitchFamily="18" charset="0"/>
                <a:cs typeface="Times New Roman" panose="02020603050405020304" pitchFamily="18" charset="0"/>
              </a:rPr>
              <a:t>1.Variables &amp; Data Types</a:t>
            </a:r>
          </a:p>
          <a:p>
            <a:pPr algn="just"/>
            <a:r>
              <a:rPr lang="en-US" sz="2000" dirty="0">
                <a:latin typeface="Times New Roman" panose="02020603050405020304" pitchFamily="18" charset="0"/>
                <a:cs typeface="Times New Roman" panose="02020603050405020304" pitchFamily="18" charset="0"/>
              </a:rPr>
              <a:t>Store employee details and salary values</a:t>
            </a:r>
          </a:p>
          <a:p>
            <a:pPr marL="0" indent="0" algn="just">
              <a:buNone/>
            </a:pPr>
            <a:r>
              <a:rPr lang="en-US" sz="2000" b="1" dirty="0">
                <a:latin typeface="Times New Roman" panose="02020603050405020304" pitchFamily="18" charset="0"/>
                <a:cs typeface="Times New Roman" panose="02020603050405020304" pitchFamily="18" charset="0"/>
              </a:rPr>
              <a:t>2. Conditional Statements (if–else)</a:t>
            </a:r>
          </a:p>
          <a:p>
            <a:pPr algn="just"/>
            <a:r>
              <a:rPr lang="en-US" sz="2000" dirty="0">
                <a:latin typeface="Times New Roman" panose="02020603050405020304" pitchFamily="18" charset="0"/>
                <a:cs typeface="Times New Roman" panose="02020603050405020304" pitchFamily="18" charset="0"/>
              </a:rPr>
              <a:t>Calculate tax, deductions, and salary conditions</a:t>
            </a:r>
          </a:p>
          <a:p>
            <a:pPr marL="0" indent="0" algn="just">
              <a:buNone/>
            </a:pPr>
            <a:r>
              <a:rPr lang="en-US" sz="2000" b="1" dirty="0">
                <a:latin typeface="Times New Roman" panose="02020603050405020304" pitchFamily="18" charset="0"/>
                <a:cs typeface="Times New Roman" panose="02020603050405020304" pitchFamily="18" charset="0"/>
              </a:rPr>
              <a:t>3. Loops (for / while)</a:t>
            </a:r>
          </a:p>
          <a:p>
            <a:pPr algn="just"/>
            <a:r>
              <a:rPr lang="en-US" sz="2000" dirty="0">
                <a:latin typeface="Times New Roman" panose="02020603050405020304" pitchFamily="18" charset="0"/>
                <a:cs typeface="Times New Roman" panose="02020603050405020304" pitchFamily="18" charset="0"/>
              </a:rPr>
              <a:t>Process multiple employee records</a:t>
            </a:r>
          </a:p>
          <a:p>
            <a:pPr marL="0" indent="0" algn="just">
              <a:buNone/>
            </a:pPr>
            <a:r>
              <a:rPr lang="en-US" sz="2000" b="1" dirty="0">
                <a:latin typeface="Times New Roman" panose="02020603050405020304" pitchFamily="18" charset="0"/>
                <a:cs typeface="Times New Roman" panose="02020603050405020304" pitchFamily="18" charset="0"/>
              </a:rPr>
              <a:t>4. Functions</a:t>
            </a:r>
          </a:p>
          <a:p>
            <a:pPr algn="just"/>
            <a:r>
              <a:rPr lang="en-US" sz="2000" dirty="0">
                <a:latin typeface="Times New Roman" panose="02020603050405020304" pitchFamily="18" charset="0"/>
                <a:cs typeface="Times New Roman" panose="02020603050405020304" pitchFamily="18" charset="0"/>
              </a:rPr>
              <a:t>Perform modular salary calculations</a:t>
            </a:r>
          </a:p>
          <a:p>
            <a:pPr marL="0" indent="0" algn="just">
              <a:buNone/>
            </a:pPr>
            <a:r>
              <a:rPr lang="en-US" sz="2000" b="1" dirty="0">
                <a:latin typeface="Times New Roman" panose="02020603050405020304" pitchFamily="18" charset="0"/>
                <a:cs typeface="Times New Roman" panose="02020603050405020304" pitchFamily="18" charset="0"/>
              </a:rPr>
              <a:t>5. File Handling</a:t>
            </a:r>
          </a:p>
          <a:p>
            <a:pPr algn="just"/>
            <a:r>
              <a:rPr lang="en-US" sz="2000" dirty="0">
                <a:latin typeface="Times New Roman" panose="02020603050405020304" pitchFamily="18" charset="0"/>
                <a:cs typeface="Times New Roman" panose="02020603050405020304" pitchFamily="18" charset="0"/>
              </a:rPr>
              <a:t>Store and retrieve payroll data (CSV/TXT)</a:t>
            </a:r>
          </a:p>
          <a:p>
            <a:pPr marL="0" indent="0" algn="just">
              <a:buNone/>
            </a:pPr>
            <a:r>
              <a:rPr lang="en-US" sz="2000" b="1" dirty="0">
                <a:latin typeface="Times New Roman" panose="02020603050405020304" pitchFamily="18" charset="0"/>
                <a:cs typeface="Times New Roman" panose="02020603050405020304" pitchFamily="18" charset="0"/>
              </a:rPr>
              <a:t>6. Data Structures (List / Dictionary)</a:t>
            </a:r>
          </a:p>
          <a:p>
            <a:pPr algn="just"/>
            <a:r>
              <a:rPr lang="en-US" sz="2000" dirty="0">
                <a:latin typeface="Times New Roman" panose="02020603050405020304" pitchFamily="18" charset="0"/>
                <a:cs typeface="Times New Roman" panose="02020603050405020304" pitchFamily="18" charset="0"/>
              </a:rPr>
              <a:t>Manage employee records efficiently</a:t>
            </a:r>
          </a:p>
          <a:p>
            <a:pPr marL="0" indent="0" algn="just">
              <a:buNone/>
            </a:pPr>
            <a:r>
              <a:rPr lang="en-US" sz="2000" b="1" dirty="0">
                <a:latin typeface="Times New Roman" panose="02020603050405020304" pitchFamily="18" charset="0"/>
                <a:cs typeface="Times New Roman" panose="02020603050405020304" pitchFamily="18" charset="0"/>
              </a:rPr>
              <a:t>7. Object-Oriented Programming (Optional)</a:t>
            </a:r>
          </a:p>
          <a:p>
            <a:pPr algn="just"/>
            <a:r>
              <a:rPr lang="en-US" sz="2000" dirty="0">
                <a:latin typeface="Times New Roman" panose="02020603050405020304" pitchFamily="18" charset="0"/>
                <a:cs typeface="Times New Roman" panose="02020603050405020304" pitchFamily="18" charset="0"/>
              </a:rPr>
              <a:t>Create Employee or Payroll classes</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0055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FB43-016D-4DDB-52D8-BCF00F70ED73}"/>
              </a:ext>
            </a:extLst>
          </p:cNvPr>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AFAF8B42-1B21-5C6F-AF75-1ADAF6ED8B08}"/>
              </a:ext>
            </a:extLst>
          </p:cNvPr>
          <p:cNvSpPr>
            <a:spLocks noGrp="1"/>
          </p:cNvSpPr>
          <p:nvPr>
            <p:ph type="ftr" sz="quarter" idx="11"/>
          </p:nvPr>
        </p:nvSpPr>
        <p:spPr>
          <a:xfrm>
            <a:off x="2133599" y="4738014"/>
            <a:ext cx="4876800" cy="398146"/>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5466DEE7-B5D1-AD74-0657-7CAE2D6C0712}"/>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pic>
        <p:nvPicPr>
          <p:cNvPr id="11" name="Content Placeholder 10">
            <a:extLst>
              <a:ext uri="{FF2B5EF4-FFF2-40B4-BE49-F238E27FC236}">
                <a16:creationId xmlns:a16="http://schemas.microsoft.com/office/drawing/2014/main" id="{001EDB82-AFF3-C1B3-24C5-8C63722064A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762000" y="971550"/>
            <a:ext cx="7619999" cy="3657600"/>
          </a:xfrm>
          <a:prstGeom prst="rect">
            <a:avLst/>
          </a:prstGeom>
        </p:spPr>
      </p:pic>
    </p:spTree>
    <p:extLst>
      <p:ext uri="{BB962C8B-B14F-4D97-AF65-F5344CB8AC3E}">
        <p14:creationId xmlns:p14="http://schemas.microsoft.com/office/powerpoint/2010/main" val="7771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3E8D-3F63-8ED5-2478-E9C00D1B15F2}"/>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 - Description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10EB4194-110F-D7FD-0DF4-398A93C90EAF}"/>
              </a:ext>
            </a:extLst>
          </p:cNvPr>
          <p:cNvSpPr>
            <a:spLocks noGrp="1"/>
          </p:cNvSpPr>
          <p:nvPr>
            <p:ph type="ftr" sz="quarter" idx="11"/>
          </p:nvPr>
        </p:nvSpPr>
        <p:spPr>
          <a:xfrm>
            <a:off x="2247900" y="4793479"/>
            <a:ext cx="46482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9C1B7B88-F6CF-BB6D-6BBC-27F7045B413C}"/>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
        <p:nvSpPr>
          <p:cNvPr id="3" name="Content Placeholder 2">
            <a:extLst>
              <a:ext uri="{FF2B5EF4-FFF2-40B4-BE49-F238E27FC236}">
                <a16:creationId xmlns:a16="http://schemas.microsoft.com/office/drawing/2014/main" id="{CC760B63-A96A-6A6A-36D0-908FBAB9B943}"/>
              </a:ext>
            </a:extLst>
          </p:cNvPr>
          <p:cNvSpPr>
            <a:spLocks noGrp="1"/>
          </p:cNvSpPr>
          <p:nvPr>
            <p:ph sz="quarter" idx="1"/>
          </p:nvPr>
        </p:nvSpPr>
        <p:spPr/>
        <p:txBody>
          <a:bodyPr>
            <a:normAutofit/>
          </a:bodyPr>
          <a:lstStyle/>
          <a:p>
            <a:pPr marL="0" indent="0" algn="just">
              <a:buNone/>
            </a:pPr>
            <a:endParaRPr lang="en-US" sz="1400" b="1" dirty="0">
              <a:latin typeface="Times New Roman" pitchFamily="18" charset="0"/>
              <a:cs typeface="Times New Roman" pitchFamily="18" charset="0"/>
            </a:endParaRPr>
          </a:p>
          <a:p>
            <a:pPr marL="0" indent="0" algn="just">
              <a:buNone/>
            </a:pPr>
            <a:r>
              <a:rPr lang="en-US" sz="1400" b="1" dirty="0">
                <a:latin typeface="Times New Roman" pitchFamily="18" charset="0"/>
                <a:cs typeface="Times New Roman" pitchFamily="18" charset="0"/>
              </a:rPr>
              <a:t>Data Input :</a:t>
            </a:r>
          </a:p>
          <a:p>
            <a:pPr marL="0" indent="0" algn="just">
              <a:buNone/>
            </a:pPr>
            <a:r>
              <a:rPr lang="en-US" sz="1400" dirty="0">
                <a:latin typeface="Times New Roman" pitchFamily="18" charset="0"/>
                <a:cs typeface="Times New Roman" pitchFamily="18" charset="0"/>
              </a:rPr>
              <a:t>The Data Input module collects employee details, attendance records, and salary information from the administrator for payroll processing.</a:t>
            </a:r>
          </a:p>
          <a:p>
            <a:pPr marL="0" indent="0" algn="just">
              <a:buNone/>
            </a:pPr>
            <a:r>
              <a:rPr lang="en-US" sz="1400" b="1" dirty="0">
                <a:latin typeface="Times New Roman" pitchFamily="18" charset="0"/>
                <a:cs typeface="Times New Roman" pitchFamily="18" charset="0"/>
              </a:rPr>
              <a:t>Data Processing :</a:t>
            </a:r>
          </a:p>
          <a:p>
            <a:pPr marL="0" indent="0" algn="just">
              <a:buNone/>
            </a:pPr>
            <a:r>
              <a:rPr lang="en-US" sz="1400" dirty="0">
                <a:latin typeface="Times New Roman" pitchFamily="18" charset="0"/>
                <a:cs typeface="Times New Roman" pitchFamily="18" charset="0"/>
              </a:rPr>
              <a:t>The Data Processing module uses the Python backend to manage employee data, process attendance, calculate salaries, apply tax and deduction rules, and store data in the database.</a:t>
            </a:r>
          </a:p>
          <a:p>
            <a:pPr marL="0" indent="0" algn="just">
              <a:buNone/>
            </a:pPr>
            <a:r>
              <a:rPr lang="en-US" sz="1400" b="1" dirty="0">
                <a:latin typeface="Times New Roman" pitchFamily="18" charset="0"/>
                <a:cs typeface="Times New Roman" pitchFamily="18" charset="0"/>
              </a:rPr>
              <a:t>Data Output :</a:t>
            </a:r>
          </a:p>
          <a:p>
            <a:pPr marL="0" indent="0" algn="just">
              <a:buNone/>
            </a:pPr>
            <a:r>
              <a:rPr lang="en-US" sz="1400" dirty="0">
                <a:latin typeface="Times New Roman" pitchFamily="18" charset="0"/>
                <a:cs typeface="Times New Roman" pitchFamily="18" charset="0"/>
              </a:rPr>
              <a:t>The Data Output module generates employee records, pay slips, salary reports, attendance reports, and monthly payroll reports for effective payroll management.</a:t>
            </a:r>
            <a:endParaRPr lang="en-IN" sz="14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5820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8CD-B6C3-C340-0D91-BCD437C40468}"/>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List of Modules</a:t>
            </a:r>
          </a:p>
        </p:txBody>
      </p:sp>
      <p:sp>
        <p:nvSpPr>
          <p:cNvPr id="5"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2171700" y="4767263"/>
            <a:ext cx="48006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2A144F88-4A41-564C-4A77-41044675C317}"/>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3" name="Content Placeholder 2">
            <a:extLst>
              <a:ext uri="{FF2B5EF4-FFF2-40B4-BE49-F238E27FC236}">
                <a16:creationId xmlns:a16="http://schemas.microsoft.com/office/drawing/2014/main" id="{F498DCEC-7ACA-7687-5074-5D991881E0C3}"/>
              </a:ext>
            </a:extLst>
          </p:cNvPr>
          <p:cNvSpPr>
            <a:spLocks noGrp="1"/>
          </p:cNvSpPr>
          <p:nvPr>
            <p:ph sz="quarter" idx="1"/>
          </p:nvPr>
        </p:nvSpPr>
        <p:spPr/>
        <p:txBody>
          <a:bodyPr>
            <a:normAutofit/>
          </a:bodyPr>
          <a:lstStyle/>
          <a:p>
            <a:endParaRPr lang="en-IN" sz="1400" dirty="0">
              <a:latin typeface="Times New Roman" panose="02020603050405020304" pitchFamily="18" charset="0"/>
              <a:cs typeface="Times New Roman" panose="02020603050405020304" pitchFamily="18" charset="0"/>
            </a:endParaRP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Employee Management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Salary Calculation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Allowances &amp; Deductions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Tax &amp; PF Management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Payroll Processing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Database/File Handling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Report &amp; Payslip Generation Module</a:t>
            </a:r>
          </a:p>
          <a:p>
            <a:pPr marL="342900" indent="-342900">
              <a:buClr>
                <a:schemeClr val="tx1"/>
              </a:buClr>
              <a:buSzPct val="90000"/>
              <a:buFont typeface="+mj-lt"/>
              <a:buAutoNum type="arabicPeriod"/>
            </a:pPr>
            <a:r>
              <a:rPr lang="en-IN" sz="1400" dirty="0">
                <a:latin typeface="Times New Roman" panose="02020603050405020304" pitchFamily="18" charset="0"/>
                <a:cs typeface="Times New Roman" panose="02020603050405020304" pitchFamily="18" charset="0"/>
              </a:rPr>
              <a:t>Security &amp; Backup Module</a:t>
            </a:r>
          </a:p>
          <a:p>
            <a:pPr marL="457200" indent="-457200">
              <a:buClr>
                <a:schemeClr val="tx1"/>
              </a:buClr>
              <a:buSzPct val="90000"/>
              <a:buFont typeface="+mj-lt"/>
              <a:buAutoNum type="arabicPeriod"/>
            </a:pPr>
            <a:endParaRPr lang="en-IN" sz="2000" dirty="0">
              <a:latin typeface="Times New Roman" panose="02020603050405020304" pitchFamily="18" charset="0"/>
              <a:cs typeface="Times New Roman" panose="02020603050405020304"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53887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Description of Modules</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171700" y="4767263"/>
            <a:ext cx="4800600" cy="274320"/>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
        <p:nvSpPr>
          <p:cNvPr id="5" name="Content Placeholder 4"/>
          <p:cNvSpPr>
            <a:spLocks noGrp="1"/>
          </p:cNvSpPr>
          <p:nvPr>
            <p:ph sz="quarter" idx="1"/>
          </p:nvPr>
        </p:nvSpPr>
        <p:spPr/>
        <p:txBody>
          <a:bodyPr>
            <a:normAutofit/>
          </a:bodyPr>
          <a:lstStyle/>
          <a:p>
            <a:pPr marL="342900" indent="-342900" algn="just">
              <a:buClr>
                <a:schemeClr val="tx1"/>
              </a:buClr>
              <a:buSzPct val="90000"/>
              <a:buFont typeface="+mj-lt"/>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Employee Management Module</a:t>
            </a:r>
            <a:r>
              <a:rPr lang="en-US" sz="1400" dirty="0">
                <a:latin typeface="Times New Roman" pitchFamily="18" charset="0"/>
                <a:cs typeface="Times New Roman" pitchFamily="18" charset="0"/>
              </a:rPr>
              <a:t> – Manages employee details such as ID, name, designation, and salary structure.</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Salary Calculation Module</a:t>
            </a:r>
            <a:r>
              <a:rPr lang="en-US" sz="1400" dirty="0">
                <a:latin typeface="Times New Roman" pitchFamily="18" charset="0"/>
                <a:cs typeface="Times New Roman" pitchFamily="18" charset="0"/>
              </a:rPr>
              <a:t> – Calculates basic pay, overtime, and gross salary.</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Allowances &amp; Deductions Module</a:t>
            </a:r>
            <a:r>
              <a:rPr lang="en-US" sz="1400" dirty="0">
                <a:latin typeface="Times New Roman" pitchFamily="18" charset="0"/>
                <a:cs typeface="Times New Roman" pitchFamily="18" charset="0"/>
              </a:rPr>
              <a:t> – Handles bonuses, allowances, tax, and other deductions.</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Tax &amp; PF Management Module</a:t>
            </a:r>
            <a:r>
              <a:rPr lang="en-US" sz="1400" dirty="0">
                <a:latin typeface="Times New Roman" pitchFamily="18" charset="0"/>
                <a:cs typeface="Times New Roman" pitchFamily="18" charset="0"/>
              </a:rPr>
              <a:t> – Computes income tax and provident fund contributions.</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Payroll Processing Module</a:t>
            </a:r>
            <a:r>
              <a:rPr lang="en-US" sz="1400" dirty="0">
                <a:latin typeface="Times New Roman" pitchFamily="18" charset="0"/>
                <a:cs typeface="Times New Roman" pitchFamily="18" charset="0"/>
              </a:rPr>
              <a:t> – Generates net salary and final payroll records.</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Database/File Handling Module</a:t>
            </a:r>
            <a:r>
              <a:rPr lang="en-US" sz="1400" dirty="0">
                <a:latin typeface="Times New Roman" pitchFamily="18" charset="0"/>
                <a:cs typeface="Times New Roman" pitchFamily="18" charset="0"/>
              </a:rPr>
              <a:t> – Stores and retrieves employee and payroll data.</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Report &amp; Pay slip Generation Module</a:t>
            </a:r>
            <a:r>
              <a:rPr lang="en-US" sz="1400" dirty="0">
                <a:latin typeface="Times New Roman" pitchFamily="18" charset="0"/>
                <a:cs typeface="Times New Roman" pitchFamily="18" charset="0"/>
              </a:rPr>
              <a:t> – Creates salary slips and payroll summary reports.</a:t>
            </a:r>
          </a:p>
          <a:p>
            <a:pPr marL="342900" indent="-342900" algn="just">
              <a:buClr>
                <a:schemeClr val="tx1"/>
              </a:buClr>
              <a:buSzPct val="90000"/>
              <a:buFont typeface="+mj-lt"/>
              <a:buAutoNum type="arabicPeriod"/>
            </a:pPr>
            <a:r>
              <a:rPr lang="en-US" sz="1400" b="1" dirty="0">
                <a:latin typeface="Times New Roman" panose="02020603050405020304" pitchFamily="18" charset="0"/>
                <a:cs typeface="Times New Roman" panose="02020603050405020304" pitchFamily="18" charset="0"/>
              </a:rPr>
              <a:t>Security &amp; Backup Module</a:t>
            </a:r>
            <a:r>
              <a:rPr lang="en-US" sz="1400" dirty="0">
                <a:latin typeface="Times New Roman" pitchFamily="18" charset="0"/>
                <a:cs typeface="Times New Roman" pitchFamily="18" charset="0"/>
              </a:rPr>
              <a:t> – Ensures data protection and maintains backup records.</a:t>
            </a:r>
          </a:p>
          <a:p>
            <a:pPr marL="0" indent="0" algn="just">
              <a:buClr>
                <a:schemeClr val="tx1"/>
              </a:buClr>
              <a:buSzPct val="90000"/>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82572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400300" y="4775452"/>
            <a:ext cx="4648200" cy="274320"/>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
        <p:nvSpPr>
          <p:cNvPr id="5" name="Content Placeholder 4"/>
          <p:cNvSpPr>
            <a:spLocks noGrp="1"/>
          </p:cNvSpPr>
          <p:nvPr>
            <p:ph sz="quarter" idx="1"/>
          </p:nvPr>
        </p:nvSpPr>
        <p:spPr>
          <a:xfrm>
            <a:off x="457200" y="914400"/>
            <a:ext cx="4114800" cy="3703320"/>
          </a:xfrm>
        </p:spPr>
        <p:txBody>
          <a:bodyPr/>
          <a:lstStyle/>
          <a:p>
            <a:pPr marL="0" indent="0">
              <a:buNone/>
            </a:pPr>
            <a:r>
              <a:rPr lang="en-US" b="1" dirty="0">
                <a:latin typeface="Times New Roman" pitchFamily="18" charset="0"/>
                <a:cs typeface="Times New Roman" pitchFamily="18" charset="0"/>
              </a:rPr>
              <a:t>Output Screenshot:</a:t>
            </a:r>
          </a:p>
        </p:txBody>
      </p:sp>
      <p:sp>
        <p:nvSpPr>
          <p:cNvPr id="6" name="Content Placeholder 4"/>
          <p:cNvSpPr txBox="1">
            <a:spLocks/>
          </p:cNvSpPr>
          <p:nvPr/>
        </p:nvSpPr>
        <p:spPr>
          <a:xfrm>
            <a:off x="4724400" y="971550"/>
            <a:ext cx="3962400" cy="370332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itchFamily="18" charset="0"/>
                <a:cs typeface="Times New Roman" pitchFamily="18" charset="0"/>
              </a:rPr>
              <a:t>Description:</a:t>
            </a:r>
          </a:p>
          <a:p>
            <a:pPr marL="0" indent="0">
              <a:buNone/>
            </a:pPr>
            <a:r>
              <a:rPr lang="en-IN" sz="1400" b="1" dirty="0">
                <a:latin typeface="Times New Roman" panose="02020603050405020304" pitchFamily="18" charset="0"/>
                <a:cs typeface="Times New Roman" panose="02020603050405020304" pitchFamily="18" charset="0"/>
              </a:rPr>
              <a:t>Payroll System – Login Page</a:t>
            </a:r>
          </a:p>
          <a:p>
            <a:pPr marL="0" indent="0">
              <a:buNone/>
            </a:pPr>
            <a:r>
              <a:rPr lang="en-IN" sz="1400" dirty="0">
                <a:latin typeface="Times New Roman" panose="02020603050405020304" pitchFamily="18" charset="0"/>
                <a:cs typeface="Times New Roman" panose="02020603050405020304" pitchFamily="18" charset="0"/>
              </a:rPr>
              <a:t>Used to </a:t>
            </a:r>
            <a:r>
              <a:rPr lang="en-IN" sz="1400" b="1" dirty="0">
                <a:latin typeface="Times New Roman" panose="02020603050405020304" pitchFamily="18" charset="0"/>
                <a:cs typeface="Times New Roman" panose="02020603050405020304" pitchFamily="18" charset="0"/>
              </a:rPr>
              <a:t>login into the system</a:t>
            </a:r>
            <a:r>
              <a:rPr lang="en-IN" sz="1400"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Admin enters </a:t>
            </a:r>
            <a:r>
              <a:rPr lang="en-IN" sz="1400" b="1" dirty="0">
                <a:latin typeface="Times New Roman" panose="02020603050405020304" pitchFamily="18" charset="0"/>
                <a:cs typeface="Times New Roman" panose="02020603050405020304" pitchFamily="18" charset="0"/>
              </a:rPr>
              <a:t>username &amp; password</a:t>
            </a:r>
            <a:r>
              <a:rPr lang="en-IN" sz="1400"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If correct → system opens </a:t>
            </a:r>
          </a:p>
          <a:p>
            <a:pPr marL="0" indent="0">
              <a:buNone/>
            </a:pPr>
            <a:r>
              <a:rPr lang="en-IN" sz="1400" dirty="0">
                <a:latin typeface="Times New Roman" panose="02020603050405020304" pitchFamily="18" charset="0"/>
                <a:cs typeface="Times New Roman" panose="02020603050405020304" pitchFamily="18" charset="0"/>
              </a:rPr>
              <a:t>If wrong → shows error </a:t>
            </a:r>
          </a:p>
          <a:p>
            <a:pPr marL="0" indent="0">
              <a:buNone/>
            </a:pPr>
            <a:r>
              <a:rPr lang="en-IN" sz="1400" dirty="0">
                <a:latin typeface="Times New Roman" panose="02020603050405020304" pitchFamily="18" charset="0"/>
                <a:cs typeface="Times New Roman" panose="02020603050405020304" pitchFamily="18" charset="0"/>
              </a:rPr>
              <a:t>Keeps data </a:t>
            </a:r>
            <a:r>
              <a:rPr lang="en-IN" sz="1400" b="1" dirty="0">
                <a:latin typeface="Times New Roman" panose="02020603050405020304" pitchFamily="18" charset="0"/>
                <a:cs typeface="Times New Roman" panose="02020603050405020304" pitchFamily="18" charset="0"/>
              </a:rPr>
              <a:t>secure</a:t>
            </a:r>
            <a:r>
              <a:rPr lang="en-IN" sz="1400" dirty="0">
                <a:latin typeface="Times New Roman" panose="02020603050405020304" pitchFamily="18" charset="0"/>
                <a:cs typeface="Times New Roman" panose="02020603050405020304" pitchFamily="18" charset="0"/>
              </a:rPr>
              <a:t> </a:t>
            </a:r>
          </a:p>
          <a:p>
            <a:pPr marL="0" indent="0">
              <a:buNone/>
            </a:pPr>
            <a:r>
              <a:rPr lang="en-IN" sz="1400" b="1" dirty="0">
                <a:latin typeface="Times New Roman" panose="02020603050405020304" pitchFamily="18" charset="0"/>
                <a:cs typeface="Times New Roman" panose="02020603050405020304" pitchFamily="18" charset="0"/>
              </a:rPr>
              <a:t>Technology:</a:t>
            </a:r>
            <a:r>
              <a:rPr lang="en-IN" sz="1400" dirty="0">
                <a:latin typeface="Times New Roman" panose="02020603050405020304" pitchFamily="18" charset="0"/>
                <a:cs typeface="Times New Roman" panose="02020603050405020304" pitchFamily="18" charset="0"/>
              </a:rPr>
              <a:t> Python (</a:t>
            </a:r>
            <a:r>
              <a:rPr lang="en-IN" sz="1400" dirty="0" err="1">
                <a:latin typeface="Times New Roman" panose="02020603050405020304" pitchFamily="18" charset="0"/>
                <a:cs typeface="Times New Roman" panose="02020603050405020304" pitchFamily="18" charset="0"/>
              </a:rPr>
              <a:t>Tkinter</a:t>
            </a:r>
            <a:r>
              <a:rPr lang="en-IN" sz="1400" dirty="0"/>
              <a:t>)</a:t>
            </a:r>
          </a:p>
          <a:p>
            <a:pPr marL="0" indent="0">
              <a:buNone/>
            </a:pPr>
            <a:endParaRPr lang="en-US" b="1" dirty="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58267089-4E0F-8C05-0811-BD44950ED9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383030"/>
            <a:ext cx="4114800" cy="3234690"/>
          </a:xfrm>
          <a:prstGeom prst="rect">
            <a:avLst/>
          </a:prstGeom>
        </p:spPr>
      </p:pic>
    </p:spTree>
    <p:extLst>
      <p:ext uri="{BB962C8B-B14F-4D97-AF65-F5344CB8AC3E}">
        <p14:creationId xmlns:p14="http://schemas.microsoft.com/office/powerpoint/2010/main" val="150334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247900" y="4789739"/>
            <a:ext cx="4648200" cy="274320"/>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itchFamily="18" charset="0"/>
                <a:cs typeface="Times New Roman" pitchFamily="18" charset="0"/>
              </a:rPr>
              <a:t>Output Screenshot:</a:t>
            </a:r>
          </a:p>
          <a:p>
            <a:pPr marL="0" indent="0">
              <a:buNone/>
            </a:pPr>
            <a:endParaRPr lang="en-US" b="1" dirty="0">
              <a:latin typeface="Times New Roman" pitchFamily="18" charset="0"/>
              <a:cs typeface="Times New Roman" pitchFamily="18" charset="0"/>
            </a:endParaRPr>
          </a:p>
        </p:txBody>
      </p:sp>
      <p:sp>
        <p:nvSpPr>
          <p:cNvPr id="6" name="Content Placeholder 4"/>
          <p:cNvSpPr txBox="1">
            <a:spLocks/>
          </p:cNvSpPr>
          <p:nvPr/>
        </p:nvSpPr>
        <p:spPr>
          <a:xfrm>
            <a:off x="4724400" y="971550"/>
            <a:ext cx="3962400" cy="370332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itchFamily="18" charset="0"/>
                <a:cs typeface="Times New Roman" pitchFamily="18" charset="0"/>
              </a:rPr>
              <a:t>Description:</a:t>
            </a:r>
          </a:p>
          <a:p>
            <a:pPr marL="0" indent="0" algn="just">
              <a:buNone/>
            </a:pPr>
            <a:r>
              <a:rPr lang="en-US" sz="1400" dirty="0">
                <a:latin typeface="Times New Roman" pitchFamily="18" charset="0"/>
                <a:cs typeface="Times New Roman" pitchFamily="18" charset="0"/>
              </a:rPr>
              <a:t>This output shows the main interface of the Payroll Processing System. It allows the user to enter employee details such as name, basic salary, allowance, and deduction. The system provides options like Add, View, Update, Delete Employee, and Generate Pay slip, making it easy to manage employee payroll and calculate salaries.</a:t>
            </a:r>
          </a:p>
          <a:p>
            <a:pPr marL="0" indent="0" algn="just">
              <a:buNone/>
            </a:pPr>
            <a:endParaRPr lang="en-US" b="1" dirty="0">
              <a:latin typeface="Times New Roman" pitchFamily="18" charset="0"/>
              <a:cs typeface="Times New Roman" pitchFamily="18" charset="0"/>
            </a:endParaRPr>
          </a:p>
          <a:p>
            <a:pPr marL="0" indent="0">
              <a:buNone/>
            </a:pPr>
            <a:endParaRPr lang="en-US" b="1" dirty="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8FF3B1E3-9547-752A-0EF7-AF67419D93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306" y="1352550"/>
            <a:ext cx="3962400" cy="3246120"/>
          </a:xfrm>
          <a:prstGeom prst="rect">
            <a:avLst/>
          </a:prstGeom>
        </p:spPr>
      </p:pic>
    </p:spTree>
    <p:extLst>
      <p:ext uri="{BB962C8B-B14F-4D97-AF65-F5344CB8AC3E}">
        <p14:creationId xmlns:p14="http://schemas.microsoft.com/office/powerpoint/2010/main" val="47693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438400" y="4767263"/>
            <a:ext cx="4800600" cy="274320"/>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itchFamily="18" charset="0"/>
                <a:cs typeface="Times New Roman" pitchFamily="18" charset="0"/>
              </a:rPr>
              <a:t>Output Screenshot:</a:t>
            </a:r>
          </a:p>
          <a:p>
            <a:pPr marL="0" indent="0">
              <a:buNone/>
            </a:pPr>
            <a:endParaRPr lang="en-US" b="1" dirty="0">
              <a:latin typeface="Times New Roman" pitchFamily="18" charset="0"/>
              <a:cs typeface="Times New Roman" pitchFamily="18" charset="0"/>
            </a:endParaRPr>
          </a:p>
        </p:txBody>
      </p:sp>
      <p:sp>
        <p:nvSpPr>
          <p:cNvPr id="6" name="Content Placeholder 4"/>
          <p:cNvSpPr txBox="1">
            <a:spLocks/>
          </p:cNvSpPr>
          <p:nvPr/>
        </p:nvSpPr>
        <p:spPr>
          <a:xfrm>
            <a:off x="4724400" y="971550"/>
            <a:ext cx="3962400" cy="370332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b="1" dirty="0">
                <a:latin typeface="Times New Roman" pitchFamily="18" charset="0"/>
                <a:cs typeface="Times New Roman" pitchFamily="18" charset="0"/>
              </a:rPr>
              <a:t>Description:</a:t>
            </a:r>
          </a:p>
          <a:p>
            <a:pPr marL="0" indent="0" algn="just">
              <a:buNone/>
            </a:pPr>
            <a:r>
              <a:rPr lang="en-US" sz="1400" dirty="0">
                <a:latin typeface="Times New Roman" pitchFamily="18" charset="0"/>
                <a:cs typeface="Times New Roman" pitchFamily="18" charset="0"/>
              </a:rPr>
              <a:t>The screenshot shows the output of a Payroll Processing System. The user enters employee details like name, basic salary, allowance, and deduction. The system calculates the net salary and displays it in a pay slip popup. Example: For Shri, the net salary is calculated as 43000.</a:t>
            </a:r>
          </a:p>
          <a:p>
            <a:pPr marL="0" indent="0" algn="just">
              <a:buNone/>
            </a:pPr>
            <a:endParaRPr lang="en-US" sz="1400" b="1" dirty="0">
              <a:latin typeface="Times New Roman" pitchFamily="18" charset="0"/>
              <a:cs typeface="Times New Roman" pitchFamily="18" charset="0"/>
            </a:endParaRPr>
          </a:p>
          <a:p>
            <a:pPr marL="0" indent="0">
              <a:buNone/>
            </a:pPr>
            <a:endParaRPr lang="en-US" b="1" dirty="0">
              <a:latin typeface="Times New Roman" pitchFamily="18" charset="0"/>
              <a:cs typeface="Times New Roman" pitchFamily="18" charset="0"/>
            </a:endParaRPr>
          </a:p>
          <a:p>
            <a:pPr marL="0" indent="0">
              <a:buNone/>
            </a:pPr>
            <a:endParaRPr lang="en-US" b="1" dirty="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E67A2FAA-612A-90C6-10CD-5E920BEB5E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176" y="1284445"/>
            <a:ext cx="4096624" cy="3398521"/>
          </a:xfrm>
          <a:prstGeom prst="rect">
            <a:avLst/>
          </a:prstGeom>
        </p:spPr>
      </p:pic>
    </p:spTree>
    <p:extLst>
      <p:ext uri="{BB962C8B-B14F-4D97-AF65-F5344CB8AC3E}">
        <p14:creationId xmlns:p14="http://schemas.microsoft.com/office/powerpoint/2010/main" val="2972835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362200" y="4805747"/>
            <a:ext cx="4724400" cy="274320"/>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itchFamily="18" charset="0"/>
                <a:cs typeface="Times New Roman" pitchFamily="18" charset="0"/>
              </a:rPr>
              <a:t>Output Screenshot:</a:t>
            </a:r>
          </a:p>
          <a:p>
            <a:pPr marL="0" indent="0">
              <a:buNone/>
            </a:pPr>
            <a:endParaRPr lang="en-US" b="1" dirty="0">
              <a:latin typeface="Times New Roman" pitchFamily="18" charset="0"/>
              <a:cs typeface="Times New Roman" pitchFamily="18" charset="0"/>
            </a:endParaRPr>
          </a:p>
        </p:txBody>
      </p:sp>
      <p:sp>
        <p:nvSpPr>
          <p:cNvPr id="6" name="Content Placeholder 4"/>
          <p:cNvSpPr txBox="1">
            <a:spLocks/>
          </p:cNvSpPr>
          <p:nvPr/>
        </p:nvSpPr>
        <p:spPr>
          <a:xfrm>
            <a:off x="4724400" y="971550"/>
            <a:ext cx="3962400" cy="370332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itchFamily="18" charset="0"/>
                <a:cs typeface="Times New Roman" pitchFamily="18" charset="0"/>
              </a:rPr>
              <a:t>Description:</a:t>
            </a:r>
          </a:p>
          <a:p>
            <a:pPr marL="0" indent="0" algn="just">
              <a:buNone/>
            </a:pPr>
            <a:r>
              <a:rPr lang="en-US" sz="1400" dirty="0">
                <a:latin typeface="Times New Roman" pitchFamily="18" charset="0"/>
                <a:cs typeface="Times New Roman" pitchFamily="18" charset="0"/>
              </a:rPr>
              <a:t>The screenshot shows the employee list view of the Payroll Processing System. It displays the names of added employees (like Jeeva and Shri) in a list format. The user can select any employee and click the “View Selected” button to see their details.</a:t>
            </a:r>
          </a:p>
          <a:p>
            <a:pPr marL="0" indent="0" algn="just">
              <a:buNone/>
            </a:pPr>
            <a:endParaRPr lang="en-US" sz="2200" b="1" dirty="0">
              <a:latin typeface="Times New Roman" pitchFamily="18" charset="0"/>
              <a:cs typeface="Times New Roman" pitchFamily="18" charset="0"/>
            </a:endParaRPr>
          </a:p>
          <a:p>
            <a:pPr marL="0" indent="0">
              <a:buNone/>
            </a:pPr>
            <a:endParaRPr lang="en-US" b="1" dirty="0">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7B253165-E126-8621-9A91-5A0B709B1D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314450"/>
            <a:ext cx="4038598" cy="3322320"/>
          </a:xfrm>
          <a:prstGeom prst="rect">
            <a:avLst/>
          </a:prstGeom>
        </p:spPr>
      </p:pic>
    </p:spTree>
    <p:extLst>
      <p:ext uri="{BB962C8B-B14F-4D97-AF65-F5344CB8AC3E}">
        <p14:creationId xmlns:p14="http://schemas.microsoft.com/office/powerpoint/2010/main" val="73106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Conclusion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209800" y="4783840"/>
            <a:ext cx="4724400" cy="274320"/>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sp>
        <p:nvSpPr>
          <p:cNvPr id="5" name="Content Placeholder 4"/>
          <p:cNvSpPr>
            <a:spLocks noGrp="1"/>
          </p:cNvSpPr>
          <p:nvPr>
            <p:ph sz="quarter" idx="1"/>
          </p:nvPr>
        </p:nvSpPr>
        <p:spPr/>
        <p:txBody>
          <a:bodyPr>
            <a:normAutofit/>
          </a:bodyPr>
          <a:lstStyle/>
          <a:p>
            <a:pPr algn="just"/>
            <a:endParaRPr lang="en-US" sz="2000" dirty="0">
              <a:latin typeface="Times New Roman" pitchFamily="18" charset="0"/>
              <a:cs typeface="Times New Roman" pitchFamily="18" charset="0"/>
            </a:endParaRPr>
          </a:p>
          <a:p>
            <a:pPr marL="0" indent="0" algn="just">
              <a:buNone/>
            </a:pPr>
            <a:r>
              <a:rPr lang="en-US" sz="1400" dirty="0">
                <a:latin typeface="Times New Roman" pitchFamily="18" charset="0"/>
                <a:cs typeface="Times New Roman" pitchFamily="18" charset="0"/>
              </a:rPr>
              <a:t>The Payroll Processing System developed using Python provides an efficient and automated solution for managing employee payroll activities. The system simplifies payroll operations by maintaining employee records, processing attendance, calculating salaries, applying deductions, and generating pay slips and reports accurately. By reducing manual calculations and paperwork, the system improves efficiency, minimizes errors, and saves time. Overall, the project demonstrates how Python can be used to develop a reliable, user-friendly, and effective payroll management system for organizations.</a:t>
            </a:r>
          </a:p>
        </p:txBody>
      </p:sp>
    </p:spTree>
    <p:extLst>
      <p:ext uri="{BB962C8B-B14F-4D97-AF65-F5344CB8AC3E}">
        <p14:creationId xmlns:p14="http://schemas.microsoft.com/office/powerpoint/2010/main" val="466032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1377AE-5B94-C1F2-E1C0-17E77BBFB9DA}"/>
              </a:ext>
            </a:extLst>
          </p:cNvPr>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itchFamily="18" charset="0"/>
                <a:cs typeface="Times New Roman" pitchFamily="18" charset="0"/>
              </a:rPr>
              <a:t>Thank  You</a:t>
            </a:r>
            <a:endParaRPr lang="en-IN" sz="4000" b="1" dirty="0">
              <a:solidFill>
                <a:schemeClr val="tx1"/>
              </a:solidFill>
              <a:latin typeface="Times New Roman" pitchFamily="18" charset="0"/>
              <a:cs typeface="Times New Roman" pitchFamily="18" charset="0"/>
            </a:endParaRPr>
          </a:p>
        </p:txBody>
      </p:sp>
      <p:sp>
        <p:nvSpPr>
          <p:cNvPr id="3" name="Footer Placeholder 2">
            <a:extLst>
              <a:ext uri="{FF2B5EF4-FFF2-40B4-BE49-F238E27FC236}">
                <a16:creationId xmlns:a16="http://schemas.microsoft.com/office/drawing/2014/main" id="{BA3FD61F-805B-E389-F2B7-0A0B2F9D8150}"/>
              </a:ext>
            </a:extLst>
          </p:cNvPr>
          <p:cNvSpPr>
            <a:spLocks noGrp="1"/>
          </p:cNvSpPr>
          <p:nvPr>
            <p:ph type="ftr" sz="quarter" idx="11"/>
          </p:nvPr>
        </p:nvSpPr>
        <p:spPr>
          <a:xfrm>
            <a:off x="2743200" y="4767263"/>
            <a:ext cx="4648200" cy="376237"/>
          </a:xfrm>
        </p:spPr>
        <p:txBody>
          <a:bodyPr/>
          <a:lstStyle/>
          <a:p>
            <a:pPr>
              <a:defRPr/>
            </a:pPr>
            <a:r>
              <a:rPr lang="en-US" sz="1200" dirty="0">
                <a:latin typeface="Times New Roman" pitchFamily="18" charset="0"/>
                <a:cs typeface="Times New Roman" pitchFamily="18" charset="0"/>
              </a:rPr>
              <a:t>CGB1121 – PYTHON PROGRAMMING –END SEMESTER REVIEW</a:t>
            </a:r>
          </a:p>
          <a:p>
            <a:pPr>
              <a:defRPr/>
            </a:pPr>
            <a:endParaRPr lang="en-US" sz="12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DB88336-4666-251E-4707-607718066E56}"/>
              </a:ext>
            </a:extLst>
          </p:cNvPr>
          <p:cNvSpPr>
            <a:spLocks noGrp="1"/>
          </p:cNvSpPr>
          <p:nvPr>
            <p:ph type="sldNum" sz="quarter" idx="12"/>
          </p:nvPr>
        </p:nvSpPr>
        <p:spPr/>
        <p:txBody>
          <a:bodyPr/>
          <a:lstStyle/>
          <a:p>
            <a:pPr>
              <a:defRPr/>
            </a:pPr>
            <a:fld id="{4CE540F1-D866-4735-9E65-A1952EADD02D}" type="slidenum">
              <a:rPr lang="en-US" altLang="en-US" smtClean="0"/>
              <a:pPr>
                <a:defRPr/>
              </a:pPr>
              <a:t>16</a:t>
            </a:fld>
            <a:endParaRPr lang="en-US" altLang="en-US" dirty="0"/>
          </a:p>
        </p:txBody>
      </p:sp>
      <p:sp>
        <p:nvSpPr>
          <p:cNvPr id="6" name="Title 1">
            <a:extLst>
              <a:ext uri="{FF2B5EF4-FFF2-40B4-BE49-F238E27FC236}">
                <a16:creationId xmlns:a16="http://schemas.microsoft.com/office/drawing/2014/main" id="{C622646B-3CDF-929A-2318-D91165119579}"/>
              </a:ext>
            </a:extLst>
          </p:cNvPr>
          <p:cNvSpPr txBox="1">
            <a:spLocks/>
          </p:cNvSpPr>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itchFamily="18" charset="0"/>
                <a:cs typeface="Times New Roman" pitchFamily="18" charset="0"/>
              </a:rPr>
              <a:t>Any queries??? </a:t>
            </a:r>
          </a:p>
        </p:txBody>
      </p:sp>
    </p:spTree>
    <p:extLst>
      <p:ext uri="{BB962C8B-B14F-4D97-AF65-F5344CB8AC3E}">
        <p14:creationId xmlns:p14="http://schemas.microsoft.com/office/powerpoint/2010/main" val="4281137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0</TotalTime>
  <Words>1297</Words>
  <Application>Microsoft Office PowerPoint</Application>
  <PresentationFormat>On-screen Show (16:9)</PresentationFormat>
  <Paragraphs>149</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Bookman Old Style</vt:lpstr>
      <vt:lpstr>Calibri</vt:lpstr>
      <vt:lpstr>Gill Sans MT</vt:lpstr>
      <vt:lpstr>Times New Roman</vt:lpstr>
      <vt:lpstr>Wingdings</vt:lpstr>
      <vt:lpstr>Wingdings 3</vt:lpstr>
      <vt:lpstr>Origin</vt:lpstr>
      <vt:lpstr>CGB1121 – PYTHON PROGRAMMING END SEMESTER REVIEW - APRIL/MAY 2026</vt:lpstr>
      <vt:lpstr>Title of the Project</vt:lpstr>
      <vt:lpstr>Abstract </vt:lpstr>
      <vt:lpstr>Abstract with CO/PO Mapping</vt:lpstr>
      <vt:lpstr>Introduction</vt:lpstr>
      <vt:lpstr>Python Programming  - Concepts Used</vt:lpstr>
      <vt:lpstr>Proposed Architecture</vt:lpstr>
      <vt:lpstr>Proposed Architecture - Description</vt:lpstr>
      <vt:lpstr>List of Modules</vt:lpstr>
      <vt:lpstr>Description of Modules</vt:lpstr>
      <vt:lpstr>Results and Discussion</vt:lpstr>
      <vt:lpstr>Results and Discussion(Cont..)</vt:lpstr>
      <vt:lpstr>Results and Discussion(Cont..)</vt:lpstr>
      <vt:lpstr>Results and Discussion(Cont..)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modified xsi:type="dcterms:W3CDTF">2026-06-03T13:05:35Z</dcterms:modified>
</cp:coreProperties>
</file>